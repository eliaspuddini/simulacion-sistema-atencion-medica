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5143500" cx="9144000"/>
  <p:notesSz cx="6858000" cy="9144000"/>
  <p:embeddedFontLst>
    <p:embeddedFont>
      <p:font typeface="Montserrat"/>
      <p:regular r:id="rId22"/>
      <p:bold r:id="rId23"/>
      <p:italic r:id="rId24"/>
      <p:boldItalic r:id="rId25"/>
    </p:embeddedFont>
    <p:embeddedFont>
      <p:font typeface="Lato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A47C8F7-44A7-4AA1-BA8D-C30330D8EF93}">
  <a:tblStyle styleId="{AA47C8F7-44A7-4AA1-BA8D-C30330D8EF9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Montserrat-regular.fntdata"/><Relationship Id="rId21" Type="http://schemas.openxmlformats.org/officeDocument/2006/relationships/slide" Target="slides/slide15.xml"/><Relationship Id="rId24" Type="http://schemas.openxmlformats.org/officeDocument/2006/relationships/font" Target="fonts/Montserrat-italic.fntdata"/><Relationship Id="rId23" Type="http://schemas.openxmlformats.org/officeDocument/2006/relationships/font" Target="fonts/Montserrat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Lato-regular.fntdata"/><Relationship Id="rId25" Type="http://schemas.openxmlformats.org/officeDocument/2006/relationships/font" Target="fonts/Montserrat-boldItalic.fntdata"/><Relationship Id="rId28" Type="http://schemas.openxmlformats.org/officeDocument/2006/relationships/font" Target="fonts/Lato-italic.fntdata"/><Relationship Id="rId27" Type="http://schemas.openxmlformats.org/officeDocument/2006/relationships/font" Target="fonts/Lato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Lato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662faa2951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662faa2951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662faa2951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662faa2951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662faa2951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662faa2951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662faa2951_0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662faa2951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817293b165_1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817293b165_1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Promedio de pacientes por minuto: Lunes 5.2, Semana 4.2, </a:t>
            </a:r>
            <a:r>
              <a:rPr lang="es"/>
              <a:t> </a:t>
            </a:r>
            <a:r>
              <a:rPr lang="es"/>
              <a:t>Fin de semana 2.3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a8b9e91d5c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a8b9e91d5c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62faa2951_0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62faa2951_0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81ff3b042f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381ff3b042f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a8c2b03536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3a8c2b03536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a8c01af972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a8c01af972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a8c2b03536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3a8c2b03536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a8c01af972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3a8c01af972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a8c2b03536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3a8c2b03536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662faa2951_0_1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3662faa2951_0_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rgbClr val="0B5394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11.png"/><Relationship Id="rId5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14.png"/><Relationship Id="rId5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1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Relationship Id="rId4" Type="http://schemas.openxmlformats.org/officeDocument/2006/relationships/image" Target="../media/image1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373900" y="763625"/>
            <a:ext cx="5235900" cy="18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6350" lvl="0" marL="6350" rtl="0" algn="ctr">
              <a:lnSpc>
                <a:spcPct val="101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" sz="3000">
                <a:latin typeface="Lato"/>
                <a:ea typeface="Lato"/>
                <a:cs typeface="Lato"/>
                <a:sym typeface="Lato"/>
              </a:rPr>
              <a:t>Simulación de una sala de espera para la optimización de gestión de un hospital</a:t>
            </a:r>
            <a:endParaRPr b="1" i="1" sz="3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4572000" y="2759650"/>
            <a:ext cx="3049200" cy="134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400"/>
              <a:t>Grupo 2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s" sz="1400"/>
              <a:t>Biel, Octavio Adrián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s" sz="1400"/>
              <a:t>Ore, Luis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s" sz="1400"/>
              <a:t>Puddini, Elias Fernando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s" sz="1400"/>
              <a:t>Santero, Nicolás Antonio</a:t>
            </a:r>
            <a:endParaRPr sz="1400"/>
          </a:p>
        </p:txBody>
      </p:sp>
      <p:pic>
        <p:nvPicPr>
          <p:cNvPr id="136" name="Google Shape;13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740800"/>
            <a:ext cx="3597251" cy="13840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4"/>
          <p:cNvSpPr txBox="1"/>
          <p:nvPr>
            <p:ph idx="1" type="body"/>
          </p:nvPr>
        </p:nvSpPr>
        <p:spPr>
          <a:xfrm>
            <a:off x="2058000" y="1420675"/>
            <a:ext cx="5028000" cy="20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 sz="1400"/>
              <a:t>Hospital con sala de espera </a:t>
            </a:r>
            <a:r>
              <a:rPr lang="es" sz="1400"/>
              <a:t>común</a:t>
            </a:r>
            <a:br>
              <a:rPr lang="es" sz="1400"/>
            </a:b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 sz="1400"/>
              <a:t>Contamos con 27 </a:t>
            </a:r>
            <a:r>
              <a:rPr lang="es" sz="1400"/>
              <a:t>médicos</a:t>
            </a:r>
            <a:r>
              <a:rPr lang="es" sz="1400"/>
              <a:t> en plantilla</a:t>
            </a:r>
            <a:br>
              <a:rPr lang="es" sz="1400"/>
            </a:b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 sz="1400"/>
              <a:t>Capacidad de la sala de espera: 250 personas</a:t>
            </a:r>
            <a:br>
              <a:rPr lang="es" sz="1400"/>
            </a:b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 sz="1400"/>
              <a:t>Mes de noviembre</a:t>
            </a:r>
            <a:endParaRPr sz="1400"/>
          </a:p>
        </p:txBody>
      </p:sp>
      <p:sp>
        <p:nvSpPr>
          <p:cNvPr id="142" name="Google Shape;142;p14"/>
          <p:cNvSpPr txBox="1"/>
          <p:nvPr>
            <p:ph type="title"/>
          </p:nvPr>
        </p:nvSpPr>
        <p:spPr>
          <a:xfrm>
            <a:off x="1051225" y="589975"/>
            <a:ext cx="3900600" cy="83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-6350" lvl="0" marL="6350" rtl="0" algn="ctr">
              <a:lnSpc>
                <a:spcPct val="101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650" u="sng">
                <a:latin typeface="Lato"/>
                <a:ea typeface="Lato"/>
                <a:cs typeface="Lato"/>
                <a:sym typeface="Lato"/>
              </a:rPr>
              <a:t>CONTEXTO</a:t>
            </a:r>
            <a:endParaRPr b="1" sz="2650" u="sng">
              <a:latin typeface="Lato"/>
              <a:ea typeface="Lato"/>
              <a:cs typeface="Lato"/>
              <a:sym typeface="Lato"/>
            </a:endParaRPr>
          </a:p>
          <a:p>
            <a:pPr indent="-6350" lvl="0" marL="6350" rtl="0" algn="ctr">
              <a:lnSpc>
                <a:spcPct val="101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3" name="Google Shape;14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08050" y="4140775"/>
            <a:ext cx="927900" cy="927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63775" y="4108013"/>
            <a:ext cx="993425" cy="993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92700" y="4140787"/>
            <a:ext cx="927900" cy="9278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5"/>
          <p:cNvSpPr txBox="1"/>
          <p:nvPr>
            <p:ph type="title"/>
          </p:nvPr>
        </p:nvSpPr>
        <p:spPr>
          <a:xfrm>
            <a:off x="1049200" y="573375"/>
            <a:ext cx="3900600" cy="83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-6350" lvl="0" marL="6350" rtl="0" algn="ctr">
              <a:lnSpc>
                <a:spcPct val="101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650" u="sng">
                <a:latin typeface="Lato"/>
                <a:ea typeface="Lato"/>
                <a:cs typeface="Lato"/>
                <a:sym typeface="Lato"/>
              </a:rPr>
              <a:t>PROBLEMÁTICA</a:t>
            </a:r>
            <a:endParaRPr b="1" sz="2650" u="sng">
              <a:latin typeface="Lato"/>
              <a:ea typeface="Lato"/>
              <a:cs typeface="Lato"/>
              <a:sym typeface="Lato"/>
            </a:endParaRPr>
          </a:p>
          <a:p>
            <a:pPr indent="-6350" lvl="0" marL="6350" rtl="0" algn="ctr">
              <a:lnSpc>
                <a:spcPct val="101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1" name="Google Shape;151;p15" title="Puntuación obtenida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01950" y="1283950"/>
            <a:ext cx="5540094" cy="3425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6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CLASIFICACIÓN</a:t>
            </a:r>
            <a:r>
              <a:rPr lang="es"/>
              <a:t> DE VARIABLES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6"/>
          <p:cNvSpPr txBox="1"/>
          <p:nvPr>
            <p:ph type="title"/>
          </p:nvPr>
        </p:nvSpPr>
        <p:spPr>
          <a:xfrm>
            <a:off x="1049200" y="550975"/>
            <a:ext cx="3900600" cy="9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6350" lvl="0" marL="6350" rtl="0" algn="ctr">
              <a:lnSpc>
                <a:spcPct val="101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 u="sng">
                <a:latin typeface="Lato"/>
                <a:ea typeface="Lato"/>
                <a:cs typeface="Lato"/>
                <a:sym typeface="Lato"/>
              </a:rPr>
              <a:t>ANÁLISIS</a:t>
            </a:r>
            <a:r>
              <a:rPr b="1" lang="es" sz="2400" u="sng">
                <a:latin typeface="Lato"/>
                <a:ea typeface="Lato"/>
                <a:cs typeface="Lato"/>
                <a:sym typeface="Lato"/>
              </a:rPr>
              <a:t> PREVIO</a:t>
            </a:r>
            <a:endParaRPr b="1" sz="2400" u="sng">
              <a:latin typeface="Lato"/>
              <a:ea typeface="Lato"/>
              <a:cs typeface="Lato"/>
              <a:sym typeface="Lato"/>
            </a:endParaRPr>
          </a:p>
          <a:p>
            <a:pPr indent="-6350" lvl="0" marL="6350" rtl="0" algn="ctr">
              <a:lnSpc>
                <a:spcPct val="101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58" name="Google Shape;158;p16"/>
          <p:cNvGraphicFramePr/>
          <p:nvPr/>
        </p:nvGraphicFramePr>
        <p:xfrm>
          <a:off x="952500" y="2253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{AA47C8F7-44A7-4AA1-BA8D-C30330D8EF93}</a:tableStyleId>
              </a:tblPr>
              <a:tblGrid>
                <a:gridCol w="2171100"/>
                <a:gridCol w="50679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Exógenas-Datos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IA: Intervalo entre arribos[minutos] (por dia semana)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TA:Tiempo de atencion[minutos]</a:t>
                      </a:r>
                      <a:endParaRPr baseline="300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Exógenas</a:t>
                      </a:r>
                      <a:r>
                        <a:rPr lang="es">
                          <a:solidFill>
                            <a:schemeClr val="lt1"/>
                          </a:solidFill>
                        </a:rPr>
                        <a:t>-Control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n: </a:t>
                      </a:r>
                      <a:r>
                        <a:rPr lang="es">
                          <a:solidFill>
                            <a:schemeClr val="lt1"/>
                          </a:solidFill>
                        </a:rPr>
                        <a:t>Médicos</a:t>
                      </a:r>
                      <a:r>
                        <a:rPr lang="es">
                          <a:solidFill>
                            <a:schemeClr val="lt1"/>
                          </a:solidFill>
                        </a:rPr>
                        <a:t> Disponibles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Endógenas</a:t>
                      </a:r>
                      <a:r>
                        <a:rPr lang="es">
                          <a:solidFill>
                            <a:schemeClr val="lt1"/>
                          </a:solidFill>
                        </a:rPr>
                        <a:t>-Estado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NS:</a:t>
                      </a:r>
                      <a:r>
                        <a:rPr lang="es">
                          <a:solidFill>
                            <a:schemeClr val="lt1"/>
                          </a:solidFill>
                        </a:rPr>
                        <a:t>Número</a:t>
                      </a:r>
                      <a:r>
                        <a:rPr lang="es">
                          <a:solidFill>
                            <a:schemeClr val="lt1"/>
                          </a:solidFill>
                        </a:rPr>
                        <a:t> de pacientes en el consultorio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Endógenas</a:t>
                      </a:r>
                      <a:r>
                        <a:rPr lang="es">
                          <a:solidFill>
                            <a:schemeClr val="lt1"/>
                          </a:solidFill>
                        </a:rPr>
                        <a:t>-Resultado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PEC:Promedio de espera en cola[minutos]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PPS: Promedio de permanencia en el sistema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PTO(i): Porcentaje de Tiempo </a:t>
                      </a:r>
                      <a:r>
                        <a:rPr lang="es">
                          <a:solidFill>
                            <a:schemeClr val="lt1"/>
                          </a:solidFill>
                        </a:rPr>
                        <a:t>Ocioso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PA: Porcentaje de arrepentidos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7"/>
          <p:cNvSpPr txBox="1"/>
          <p:nvPr>
            <p:ph idx="1" type="body"/>
          </p:nvPr>
        </p:nvSpPr>
        <p:spPr>
          <a:xfrm>
            <a:off x="1739975" y="2231525"/>
            <a:ext cx="2350800" cy="36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SzPct val="33846"/>
              <a:buNone/>
            </a:pPr>
            <a:r>
              <a:rPr lang="es"/>
              <a:t>Tabla de eventos independientes</a:t>
            </a:r>
            <a:endParaRPr/>
          </a:p>
        </p:txBody>
      </p:sp>
      <p:sp>
        <p:nvSpPr>
          <p:cNvPr id="164" name="Google Shape;164;p17"/>
          <p:cNvSpPr txBox="1"/>
          <p:nvPr>
            <p:ph type="title"/>
          </p:nvPr>
        </p:nvSpPr>
        <p:spPr>
          <a:xfrm>
            <a:off x="1049175" y="595325"/>
            <a:ext cx="3900600" cy="9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6350" lvl="0" marL="6350" rtl="0" algn="ctr">
              <a:lnSpc>
                <a:spcPct val="101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 u="sng">
                <a:latin typeface="Lato"/>
                <a:ea typeface="Lato"/>
                <a:cs typeface="Lato"/>
                <a:sym typeface="Lato"/>
              </a:rPr>
              <a:t>ANÁLISIS</a:t>
            </a:r>
            <a:r>
              <a:rPr b="1" lang="es" sz="2400" u="sng">
                <a:latin typeface="Lato"/>
                <a:ea typeface="Lato"/>
                <a:cs typeface="Lato"/>
                <a:sym typeface="Lato"/>
              </a:rPr>
              <a:t> PREVIO</a:t>
            </a:r>
            <a:endParaRPr b="1" sz="2400" u="sng">
              <a:latin typeface="Lato"/>
              <a:ea typeface="Lato"/>
              <a:cs typeface="Lato"/>
              <a:sym typeface="Lato"/>
            </a:endParaRPr>
          </a:p>
          <a:p>
            <a:pPr indent="-6350" lvl="0" marL="6350" rtl="0" algn="ctr">
              <a:lnSpc>
                <a:spcPct val="101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65" name="Google Shape;165;p17"/>
          <p:cNvGraphicFramePr/>
          <p:nvPr/>
        </p:nvGraphicFramePr>
        <p:xfrm>
          <a:off x="6525975" y="2953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{AA47C8F7-44A7-4AA1-BA8D-C30330D8EF93}</a:tableStyleId>
              </a:tblPr>
              <a:tblGrid>
                <a:gridCol w="1022950"/>
                <a:gridCol w="10229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TPLL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TPS(i)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0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HV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66" name="Google Shape;166;p17"/>
          <p:cNvGraphicFramePr/>
          <p:nvPr/>
        </p:nvGraphicFramePr>
        <p:xfrm>
          <a:off x="191725" y="2953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{AA47C8F7-44A7-4AA1-BA8D-C30330D8EF93}</a:tableStyleId>
              </a:tblPr>
              <a:tblGrid>
                <a:gridCol w="1361825"/>
                <a:gridCol w="1361825"/>
                <a:gridCol w="1361825"/>
                <a:gridCol w="13618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Evento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EFNC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EFC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Condición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Llegada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Llegada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Salida(i)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NS=&lt;n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0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Salida(i)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-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Salida(i)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NS&gt;=n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67" name="Google Shape;167;p17"/>
          <p:cNvSpPr txBox="1"/>
          <p:nvPr>
            <p:ph idx="1" type="body"/>
          </p:nvPr>
        </p:nvSpPr>
        <p:spPr>
          <a:xfrm>
            <a:off x="6460525" y="2231525"/>
            <a:ext cx="2176800" cy="36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SzPct val="33846"/>
              <a:buNone/>
            </a:pPr>
            <a:r>
              <a:rPr lang="es"/>
              <a:t>Tabla de eventos futuros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8"/>
          <p:cNvSpPr txBox="1"/>
          <p:nvPr/>
        </p:nvSpPr>
        <p:spPr>
          <a:xfrm>
            <a:off x="3072000" y="172900"/>
            <a:ext cx="3000000" cy="5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6350" lvl="0" marL="6350" rtl="0" algn="ctr">
              <a:lnSpc>
                <a:spcPct val="101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650" u="sng">
                <a:solidFill>
                  <a:schemeClr val="lt1"/>
                </a:solidFill>
              </a:rPr>
              <a:t>FDP’S</a:t>
            </a:r>
            <a:endParaRPr/>
          </a:p>
        </p:txBody>
      </p:sp>
      <p:pic>
        <p:nvPicPr>
          <p:cNvPr id="173" name="Google Shape;173;p18" title="fdp seman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00875" y="714025"/>
            <a:ext cx="2942251" cy="22296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8" title="fdp findesemana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14825" y="2571750"/>
            <a:ext cx="3129175" cy="236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18" title="fdp lunes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2542978"/>
            <a:ext cx="3129175" cy="2420159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8"/>
          <p:cNvSpPr txBox="1"/>
          <p:nvPr/>
        </p:nvSpPr>
        <p:spPr>
          <a:xfrm>
            <a:off x="6417800" y="1400138"/>
            <a:ext cx="23232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Fin de </a:t>
            </a:r>
            <a:r>
              <a:rPr b="1" lang="es" sz="1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Semana</a:t>
            </a:r>
            <a:endParaRPr b="1"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s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Promedio: 2.3 Pacientes/min</a:t>
            </a:r>
            <a:endParaRPr b="1"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7" name="Google Shape;177;p18"/>
          <p:cNvSpPr txBox="1"/>
          <p:nvPr/>
        </p:nvSpPr>
        <p:spPr>
          <a:xfrm>
            <a:off x="402988" y="1400138"/>
            <a:ext cx="23232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Lunes</a:t>
            </a:r>
            <a:endParaRPr b="1"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s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Promedio: 5.2 Pacientes/min</a:t>
            </a:r>
            <a:endParaRPr b="1"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8" name="Google Shape;178;p18"/>
          <p:cNvSpPr txBox="1"/>
          <p:nvPr/>
        </p:nvSpPr>
        <p:spPr>
          <a:xfrm>
            <a:off x="3410400" y="3324363"/>
            <a:ext cx="23232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Semana</a:t>
            </a:r>
            <a:endParaRPr b="1"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s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Promedio: 4.2 Pacientes/min</a:t>
            </a:r>
            <a:endParaRPr b="1"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183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94250" y="988525"/>
            <a:ext cx="5267325" cy="3914775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19"/>
          <p:cNvSpPr txBox="1"/>
          <p:nvPr/>
        </p:nvSpPr>
        <p:spPr>
          <a:xfrm>
            <a:off x="532875" y="2071025"/>
            <a:ext cx="48648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Tiempo de </a:t>
            </a:r>
            <a:r>
              <a:rPr b="1" lang="es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atención</a:t>
            </a:r>
            <a:endParaRPr b="1"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Promedio: 5.3 minutos</a:t>
            </a:r>
            <a:endParaRPr b="1"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0"/>
          <p:cNvSpPr txBox="1"/>
          <p:nvPr>
            <p:ph type="title"/>
          </p:nvPr>
        </p:nvSpPr>
        <p:spPr>
          <a:xfrm>
            <a:off x="1093200" y="568700"/>
            <a:ext cx="3076200" cy="65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-6350" lvl="0" marL="6350" rtl="0" algn="ctr">
              <a:lnSpc>
                <a:spcPct val="101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 u="sng">
                <a:latin typeface="Lato"/>
                <a:ea typeface="Lato"/>
                <a:cs typeface="Lato"/>
                <a:sym typeface="Lato"/>
              </a:rPr>
              <a:t>ESCENARIOS</a:t>
            </a:r>
            <a:endParaRPr b="1" sz="2400" u="sng">
              <a:latin typeface="Lato"/>
              <a:ea typeface="Lato"/>
              <a:cs typeface="Lato"/>
              <a:sym typeface="Lato"/>
            </a:endParaRPr>
          </a:p>
          <a:p>
            <a:pPr indent="-6350" lvl="0" marL="6350" rtl="0" algn="ctr">
              <a:lnSpc>
                <a:spcPct val="101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20"/>
          <p:cNvSpPr txBox="1"/>
          <p:nvPr/>
        </p:nvSpPr>
        <p:spPr>
          <a:xfrm>
            <a:off x="1271500" y="1226900"/>
            <a:ext cx="7431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Lunes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1" name="Google Shape;191;p20"/>
          <p:cNvSpPr/>
          <p:nvPr/>
        </p:nvSpPr>
        <p:spPr>
          <a:xfrm>
            <a:off x="1147600" y="1844050"/>
            <a:ext cx="990900" cy="990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Lato"/>
                <a:ea typeface="Lato"/>
                <a:cs typeface="Lato"/>
                <a:sym typeface="Lato"/>
              </a:rPr>
              <a:t>26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2" name="Google Shape;192;p20"/>
          <p:cNvSpPr txBox="1"/>
          <p:nvPr/>
        </p:nvSpPr>
        <p:spPr>
          <a:xfrm>
            <a:off x="4200450" y="1226900"/>
            <a:ext cx="867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Semana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3" name="Google Shape;193;p20"/>
          <p:cNvSpPr/>
          <p:nvPr/>
        </p:nvSpPr>
        <p:spPr>
          <a:xfrm>
            <a:off x="4060738" y="1844050"/>
            <a:ext cx="990900" cy="990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Lato"/>
                <a:ea typeface="Lato"/>
                <a:cs typeface="Lato"/>
                <a:sym typeface="Lato"/>
              </a:rPr>
              <a:t>21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4" name="Google Shape;194;p20"/>
          <p:cNvSpPr txBox="1"/>
          <p:nvPr/>
        </p:nvSpPr>
        <p:spPr>
          <a:xfrm>
            <a:off x="6849975" y="1226900"/>
            <a:ext cx="12228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Fin de semana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5" name="Google Shape;195;p20"/>
          <p:cNvSpPr/>
          <p:nvPr/>
        </p:nvSpPr>
        <p:spPr>
          <a:xfrm>
            <a:off x="6965925" y="1844050"/>
            <a:ext cx="990900" cy="990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Lato"/>
                <a:ea typeface="Lato"/>
                <a:cs typeface="Lato"/>
                <a:sym typeface="Lato"/>
              </a:rPr>
              <a:t>11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6" name="Google Shape;196;p20"/>
          <p:cNvSpPr/>
          <p:nvPr/>
        </p:nvSpPr>
        <p:spPr>
          <a:xfrm>
            <a:off x="1147600" y="2930513"/>
            <a:ext cx="990900" cy="990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Lato"/>
                <a:ea typeface="Lato"/>
                <a:cs typeface="Lato"/>
                <a:sym typeface="Lato"/>
              </a:rPr>
              <a:t>27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7" name="Google Shape;197;p20"/>
          <p:cNvSpPr/>
          <p:nvPr/>
        </p:nvSpPr>
        <p:spPr>
          <a:xfrm>
            <a:off x="1147600" y="4016975"/>
            <a:ext cx="990900" cy="990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Lato"/>
                <a:ea typeface="Lato"/>
                <a:cs typeface="Lato"/>
                <a:sym typeface="Lato"/>
              </a:rPr>
              <a:t>28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8" name="Google Shape;198;p20"/>
          <p:cNvSpPr/>
          <p:nvPr/>
        </p:nvSpPr>
        <p:spPr>
          <a:xfrm>
            <a:off x="4060738" y="2930513"/>
            <a:ext cx="990900" cy="990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Lato"/>
                <a:ea typeface="Lato"/>
                <a:cs typeface="Lato"/>
                <a:sym typeface="Lato"/>
              </a:rPr>
              <a:t>22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9" name="Google Shape;199;p20"/>
          <p:cNvSpPr/>
          <p:nvPr/>
        </p:nvSpPr>
        <p:spPr>
          <a:xfrm>
            <a:off x="4060738" y="4017000"/>
            <a:ext cx="990900" cy="990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Lato"/>
                <a:ea typeface="Lato"/>
                <a:cs typeface="Lato"/>
                <a:sym typeface="Lato"/>
              </a:rPr>
              <a:t>23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0" name="Google Shape;200;p20"/>
          <p:cNvSpPr/>
          <p:nvPr/>
        </p:nvSpPr>
        <p:spPr>
          <a:xfrm>
            <a:off x="6973900" y="2930500"/>
            <a:ext cx="990900" cy="990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Lato"/>
                <a:ea typeface="Lato"/>
                <a:cs typeface="Lato"/>
                <a:sym typeface="Lato"/>
              </a:rPr>
              <a:t>12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1" name="Google Shape;201;p20"/>
          <p:cNvSpPr/>
          <p:nvPr/>
        </p:nvSpPr>
        <p:spPr>
          <a:xfrm>
            <a:off x="6973900" y="4016950"/>
            <a:ext cx="990900" cy="990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Lato"/>
                <a:ea typeface="Lato"/>
                <a:cs typeface="Lato"/>
                <a:sym typeface="Lato"/>
              </a:rPr>
              <a:t>13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1"/>
          <p:cNvSpPr txBox="1"/>
          <p:nvPr>
            <p:ph type="title"/>
          </p:nvPr>
        </p:nvSpPr>
        <p:spPr>
          <a:xfrm>
            <a:off x="887838" y="518000"/>
            <a:ext cx="3793500" cy="47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-6350" lvl="0" marL="6350" rtl="0" algn="ctr">
              <a:lnSpc>
                <a:spcPct val="101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u="sng">
                <a:latin typeface="Lato"/>
                <a:ea typeface="Lato"/>
                <a:cs typeface="Lato"/>
                <a:sym typeface="Lato"/>
              </a:rPr>
              <a:t>Lunes</a:t>
            </a:r>
            <a:endParaRPr b="1" sz="2400" u="sng">
              <a:latin typeface="Lato"/>
              <a:ea typeface="Lato"/>
              <a:cs typeface="Lato"/>
              <a:sym typeface="Lato"/>
            </a:endParaRPr>
          </a:p>
          <a:p>
            <a:pPr indent="-6350" lvl="0" marL="6350" rtl="0" algn="ctr">
              <a:lnSpc>
                <a:spcPct val="101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07" name="Google Shape;207;p21"/>
          <p:cNvGraphicFramePr/>
          <p:nvPr/>
        </p:nvGraphicFramePr>
        <p:xfrm>
          <a:off x="1405813" y="1631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{AA47C8F7-44A7-4AA1-BA8D-C30330D8EF93}</a:tableStyleId>
              </a:tblPr>
              <a:tblGrid>
                <a:gridCol w="1372325"/>
                <a:gridCol w="1570375"/>
                <a:gridCol w="1174250"/>
                <a:gridCol w="1174250"/>
                <a:gridCol w="1174250"/>
              </a:tblGrid>
              <a:tr h="1349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solidFill>
                            <a:schemeClr val="lt1"/>
                          </a:solidFill>
                        </a:rPr>
                        <a:t>Lunes</a:t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solidFill>
                            <a:schemeClr val="lt1"/>
                          </a:solidFill>
                        </a:rPr>
                        <a:t>Promedio de espera en cola (Min)</a:t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solidFill>
                            <a:schemeClr val="lt1"/>
                          </a:solidFill>
                        </a:rPr>
                        <a:t>Promedia de permanencia en el sistema (Min)</a:t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solidFill>
                            <a:schemeClr val="lt1"/>
                          </a:solidFill>
                        </a:rPr>
                        <a:t>Porcentaje promedio tiempo ocioso(%)</a:t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solidFill>
                            <a:schemeClr val="lt1"/>
                          </a:solidFill>
                        </a:rPr>
                        <a:t>Porcentaje Arrepentidos(%)</a:t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2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solidFill>
                            <a:schemeClr val="lt1"/>
                          </a:solidFill>
                        </a:rPr>
                        <a:t>26 </a:t>
                      </a:r>
                      <a:r>
                        <a:rPr lang="es" sz="1200">
                          <a:solidFill>
                            <a:schemeClr val="lt1"/>
                          </a:solidFill>
                        </a:rPr>
                        <a:t>médicos</a:t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solidFill>
                            <a:schemeClr val="lt1"/>
                          </a:solidFill>
                        </a:rPr>
                        <a:t>42.14</a:t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solidFill>
                            <a:schemeClr val="lt1"/>
                          </a:solidFill>
                        </a:rPr>
                        <a:t>47.41</a:t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solidFill>
                            <a:schemeClr val="lt1"/>
                          </a:solidFill>
                        </a:rPr>
                        <a:t>0.0027</a:t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solidFill>
                            <a:schemeClr val="lt1"/>
                          </a:solidFill>
                        </a:rPr>
                        <a:t>6.06</a:t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52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solidFill>
                            <a:schemeClr val="lt1"/>
                          </a:solidFill>
                        </a:rPr>
                        <a:t>27 médicos</a:t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solidFill>
                            <a:schemeClr val="lt1"/>
                          </a:solidFill>
                        </a:rPr>
                        <a:t>36</a:t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solidFill>
                            <a:schemeClr val="lt1"/>
                          </a:solidFill>
                        </a:rPr>
                        <a:t>41.16</a:t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solidFill>
                            <a:schemeClr val="lt1"/>
                          </a:solidFill>
                        </a:rPr>
                        <a:t>0.005</a:t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solidFill>
                            <a:schemeClr val="lt1"/>
                          </a:solidFill>
                        </a:rPr>
                        <a:t>2.6</a:t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52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solidFill>
                            <a:schemeClr val="lt1"/>
                          </a:solidFill>
                        </a:rPr>
                        <a:t>28 médicos</a:t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solidFill>
                            <a:schemeClr val="lt1"/>
                          </a:solidFill>
                        </a:rPr>
                        <a:t>12.16</a:t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solidFill>
                            <a:schemeClr val="lt1"/>
                          </a:solidFill>
                        </a:rPr>
                        <a:t>17.41</a:t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solidFill>
                            <a:schemeClr val="lt1"/>
                          </a:solidFill>
                        </a:rPr>
                        <a:t>1.213</a:t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solidFill>
                            <a:schemeClr val="lt1"/>
                          </a:solidFill>
                        </a:rPr>
                        <a:t>0.009</a:t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08" name="Google Shape;208;p21"/>
          <p:cNvSpPr txBox="1"/>
          <p:nvPr/>
        </p:nvSpPr>
        <p:spPr>
          <a:xfrm>
            <a:off x="1284588" y="54200"/>
            <a:ext cx="3000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6350" lvl="0" marL="6350" rtl="0" algn="ctr">
              <a:lnSpc>
                <a:spcPct val="101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 u="sng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RESULTADOS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2"/>
          <p:cNvSpPr txBox="1"/>
          <p:nvPr>
            <p:ph type="title"/>
          </p:nvPr>
        </p:nvSpPr>
        <p:spPr>
          <a:xfrm>
            <a:off x="887838" y="518000"/>
            <a:ext cx="3793500" cy="47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-6350" lvl="0" marL="6350" rtl="0" algn="ctr">
              <a:lnSpc>
                <a:spcPct val="101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u="sng">
                <a:latin typeface="Lato"/>
                <a:ea typeface="Lato"/>
                <a:cs typeface="Lato"/>
                <a:sym typeface="Lato"/>
              </a:rPr>
              <a:t>Lunes</a:t>
            </a:r>
            <a:endParaRPr b="1" sz="2400" u="sng">
              <a:latin typeface="Lato"/>
              <a:ea typeface="Lato"/>
              <a:cs typeface="Lato"/>
              <a:sym typeface="Lato"/>
            </a:endParaRPr>
          </a:p>
          <a:p>
            <a:pPr indent="-6350" lvl="0" marL="6350" rtl="0" algn="ctr">
              <a:lnSpc>
                <a:spcPct val="101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22"/>
          <p:cNvSpPr txBox="1"/>
          <p:nvPr/>
        </p:nvSpPr>
        <p:spPr>
          <a:xfrm>
            <a:off x="1284588" y="54200"/>
            <a:ext cx="3000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6350" lvl="0" marL="6350" rtl="0" algn="ctr">
              <a:lnSpc>
                <a:spcPct val="101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 u="sng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RESULTADOS</a:t>
            </a:r>
            <a:endParaRPr/>
          </a:p>
        </p:txBody>
      </p:sp>
      <p:pic>
        <p:nvPicPr>
          <p:cNvPr id="215" name="Google Shape;215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2101" y="1422863"/>
            <a:ext cx="4081674" cy="2297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03775" y="1422863"/>
            <a:ext cx="4018126" cy="22977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3"/>
          <p:cNvSpPr txBox="1"/>
          <p:nvPr>
            <p:ph type="title"/>
          </p:nvPr>
        </p:nvSpPr>
        <p:spPr>
          <a:xfrm>
            <a:off x="887838" y="518000"/>
            <a:ext cx="3793500" cy="47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-6350" lvl="0" marL="6350" rtl="0" algn="ctr">
              <a:lnSpc>
                <a:spcPct val="101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u="sng">
                <a:latin typeface="Lato"/>
                <a:ea typeface="Lato"/>
                <a:cs typeface="Lato"/>
                <a:sym typeface="Lato"/>
              </a:rPr>
              <a:t>Semana</a:t>
            </a:r>
            <a:endParaRPr b="1" sz="2400" u="sng">
              <a:latin typeface="Lato"/>
              <a:ea typeface="Lato"/>
              <a:cs typeface="Lato"/>
              <a:sym typeface="Lato"/>
            </a:endParaRPr>
          </a:p>
          <a:p>
            <a:pPr indent="-6350" lvl="0" marL="6350" rtl="0" algn="ctr">
              <a:lnSpc>
                <a:spcPct val="101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22" name="Google Shape;222;p23"/>
          <p:cNvGraphicFramePr/>
          <p:nvPr/>
        </p:nvGraphicFramePr>
        <p:xfrm>
          <a:off x="1284600" y="1512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{AA47C8F7-44A7-4AA1-BA8D-C30330D8EF93}</a:tableStyleId>
              </a:tblPr>
              <a:tblGrid>
                <a:gridCol w="1355775"/>
                <a:gridCol w="1455325"/>
                <a:gridCol w="1511625"/>
                <a:gridCol w="1436575"/>
                <a:gridCol w="1073275"/>
              </a:tblGrid>
              <a:tr h="497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solidFill>
                            <a:schemeClr val="lt1"/>
                          </a:solidFill>
                        </a:rPr>
                        <a:t>Semana</a:t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solidFill>
                            <a:schemeClr val="lt1"/>
                          </a:solidFill>
                        </a:rPr>
                        <a:t>Promedio de espera en cola </a:t>
                      </a:r>
                      <a:r>
                        <a:rPr lang="es" sz="1200">
                          <a:solidFill>
                            <a:schemeClr val="lt1"/>
                          </a:solidFill>
                        </a:rPr>
                        <a:t>(Min)</a:t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solidFill>
                            <a:schemeClr val="lt1"/>
                          </a:solidFill>
                        </a:rPr>
                        <a:t>Promedia de permanencia en el sistema (Min)</a:t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solidFill>
                            <a:schemeClr val="lt1"/>
                          </a:solidFill>
                        </a:rPr>
                        <a:t>Porcentaje promedio tiempo ocioso(%)</a:t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solidFill>
                            <a:schemeClr val="lt1"/>
                          </a:solidFill>
                        </a:rPr>
                        <a:t>Porcentaje Arrepentidos(%)</a:t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746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solidFill>
                            <a:schemeClr val="lt1"/>
                          </a:solidFill>
                        </a:rPr>
                        <a:t>21 médicos</a:t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solidFill>
                            <a:schemeClr val="lt1"/>
                          </a:solidFill>
                        </a:rPr>
                        <a:t>54</a:t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solidFill>
                            <a:schemeClr val="lt1"/>
                          </a:solidFill>
                        </a:rPr>
                        <a:t>59</a:t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solidFill>
                            <a:schemeClr val="lt1"/>
                          </a:solidFill>
                        </a:rPr>
                        <a:t>0.001</a:t>
                      </a:r>
                      <a:r>
                        <a:rPr lang="es" sz="1200">
                          <a:solidFill>
                            <a:schemeClr val="lt1"/>
                          </a:solidFill>
                        </a:rPr>
                        <a:t>2</a:t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solidFill>
                            <a:schemeClr val="lt1"/>
                          </a:solidFill>
                        </a:rPr>
                        <a:t>6</a:t>
                      </a:r>
                      <a:r>
                        <a:rPr lang="es" sz="1200">
                          <a:solidFill>
                            <a:schemeClr val="lt1"/>
                          </a:solidFill>
                        </a:rPr>
                        <a:t>.2</a:t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746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solidFill>
                            <a:schemeClr val="lt1"/>
                          </a:solidFill>
                        </a:rPr>
                        <a:t>22 médicos</a:t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solidFill>
                            <a:schemeClr val="lt1"/>
                          </a:solidFill>
                        </a:rPr>
                        <a:t>42</a:t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solidFill>
                            <a:schemeClr val="lt1"/>
                          </a:solidFill>
                        </a:rPr>
                        <a:t>47</a:t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solidFill>
                            <a:schemeClr val="lt1"/>
                          </a:solidFill>
                        </a:rPr>
                        <a:t>0.02</a:t>
                      </a:r>
                      <a:r>
                        <a:rPr lang="es" sz="1200">
                          <a:solidFill>
                            <a:schemeClr val="lt1"/>
                          </a:solidFill>
                        </a:rPr>
                        <a:t>3</a:t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solidFill>
                            <a:schemeClr val="lt1"/>
                          </a:solidFill>
                        </a:rPr>
                        <a:t>1,2</a:t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746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solidFill>
                            <a:schemeClr val="lt1"/>
                          </a:solidFill>
                        </a:rPr>
                        <a:t>23 médicos</a:t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solidFill>
                            <a:schemeClr val="lt1"/>
                          </a:solidFill>
                        </a:rPr>
                        <a:t>7</a:t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solidFill>
                            <a:schemeClr val="lt1"/>
                          </a:solidFill>
                        </a:rPr>
                        <a:t>12</a:t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solidFill>
                            <a:schemeClr val="lt1"/>
                          </a:solidFill>
                        </a:rPr>
                        <a:t>2.8</a:t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solidFill>
                            <a:schemeClr val="lt1"/>
                          </a:solidFill>
                        </a:rPr>
                        <a:t>0</a:t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23" name="Google Shape;223;p23"/>
          <p:cNvSpPr txBox="1"/>
          <p:nvPr/>
        </p:nvSpPr>
        <p:spPr>
          <a:xfrm>
            <a:off x="1284588" y="54200"/>
            <a:ext cx="3000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6350" lvl="0" marL="6350" rtl="0" algn="ctr">
              <a:lnSpc>
                <a:spcPct val="101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 u="sng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RESULTADOS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4"/>
          <p:cNvSpPr txBox="1"/>
          <p:nvPr>
            <p:ph type="title"/>
          </p:nvPr>
        </p:nvSpPr>
        <p:spPr>
          <a:xfrm>
            <a:off x="887838" y="518000"/>
            <a:ext cx="3793500" cy="47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-6350" lvl="0" marL="6350" rtl="0" algn="ctr">
              <a:lnSpc>
                <a:spcPct val="101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u="sng">
                <a:latin typeface="Lato"/>
                <a:ea typeface="Lato"/>
                <a:cs typeface="Lato"/>
                <a:sym typeface="Lato"/>
              </a:rPr>
              <a:t>Semana</a:t>
            </a:r>
            <a:endParaRPr b="1" sz="2400" u="sng">
              <a:latin typeface="Lato"/>
              <a:ea typeface="Lato"/>
              <a:cs typeface="Lato"/>
              <a:sym typeface="Lato"/>
            </a:endParaRPr>
          </a:p>
          <a:p>
            <a:pPr indent="-6350" lvl="0" marL="6350" rtl="0" algn="ctr">
              <a:lnSpc>
                <a:spcPct val="101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24"/>
          <p:cNvSpPr txBox="1"/>
          <p:nvPr/>
        </p:nvSpPr>
        <p:spPr>
          <a:xfrm>
            <a:off x="1284588" y="54200"/>
            <a:ext cx="3000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6350" lvl="0" marL="6350" rtl="0" algn="ctr">
              <a:lnSpc>
                <a:spcPct val="101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 u="sng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RESULTADOS</a:t>
            </a:r>
            <a:endParaRPr/>
          </a:p>
        </p:txBody>
      </p:sp>
      <p:pic>
        <p:nvPicPr>
          <p:cNvPr id="230" name="Google Shape;230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7251" y="1422862"/>
            <a:ext cx="4135975" cy="2297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43225" y="1422863"/>
            <a:ext cx="4193532" cy="2297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5"/>
          <p:cNvSpPr txBox="1"/>
          <p:nvPr>
            <p:ph type="title"/>
          </p:nvPr>
        </p:nvSpPr>
        <p:spPr>
          <a:xfrm>
            <a:off x="887838" y="518000"/>
            <a:ext cx="3793500" cy="47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-6350" lvl="0" marL="6350" rtl="0" algn="ctr">
              <a:lnSpc>
                <a:spcPct val="101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u="sng">
                <a:latin typeface="Lato"/>
                <a:ea typeface="Lato"/>
                <a:cs typeface="Lato"/>
                <a:sym typeface="Lato"/>
              </a:rPr>
              <a:t>Fin de Semana</a:t>
            </a:r>
            <a:endParaRPr b="1" sz="2400" u="sng">
              <a:latin typeface="Lato"/>
              <a:ea typeface="Lato"/>
              <a:cs typeface="Lato"/>
              <a:sym typeface="Lato"/>
            </a:endParaRPr>
          </a:p>
          <a:p>
            <a:pPr indent="-6350" lvl="0" marL="6350" rtl="0" algn="ctr">
              <a:lnSpc>
                <a:spcPct val="101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37" name="Google Shape;237;p25"/>
          <p:cNvGraphicFramePr/>
          <p:nvPr/>
        </p:nvGraphicFramePr>
        <p:xfrm>
          <a:off x="705075" y="1918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{AA47C8F7-44A7-4AA1-BA8D-C30330D8EF93}</a:tableStyleId>
              </a:tblPr>
              <a:tblGrid>
                <a:gridCol w="1641525"/>
                <a:gridCol w="1878450"/>
                <a:gridCol w="1404625"/>
                <a:gridCol w="1404625"/>
                <a:gridCol w="1404625"/>
              </a:tblGrid>
              <a:tr h="501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solidFill>
                            <a:schemeClr val="lt1"/>
                          </a:solidFill>
                        </a:rPr>
                        <a:t>Fin de Semana</a:t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solidFill>
                            <a:schemeClr val="lt1"/>
                          </a:solidFill>
                        </a:rPr>
                        <a:t>Promedio de espera en cola (Min)</a:t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solidFill>
                            <a:schemeClr val="lt1"/>
                          </a:solidFill>
                        </a:rPr>
                        <a:t>Promedia de permanencia en el sistema (Min)</a:t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solidFill>
                            <a:schemeClr val="lt1"/>
                          </a:solidFill>
                        </a:rPr>
                        <a:t>Porcentaje promedio tiempo ocioso(%)</a:t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solidFill>
                            <a:schemeClr val="lt1"/>
                          </a:solidFill>
                        </a:rPr>
                        <a:t>Porcentaje Arrepentidos</a:t>
                      </a:r>
                      <a:r>
                        <a:rPr lang="es" sz="1200">
                          <a:solidFill>
                            <a:schemeClr val="lt1"/>
                          </a:solidFill>
                        </a:rPr>
                        <a:t>(%)</a:t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501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solidFill>
                            <a:schemeClr val="lt1"/>
                          </a:solidFill>
                        </a:rPr>
                        <a:t>11 </a:t>
                      </a:r>
                      <a:r>
                        <a:rPr lang="es" sz="1200">
                          <a:solidFill>
                            <a:schemeClr val="lt1"/>
                          </a:solidFill>
                        </a:rPr>
                        <a:t>médicos</a:t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solidFill>
                            <a:schemeClr val="lt1"/>
                          </a:solidFill>
                        </a:rPr>
                        <a:t>61</a:t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solidFill>
                            <a:schemeClr val="lt1"/>
                          </a:solidFill>
                        </a:rPr>
                        <a:t>66</a:t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solidFill>
                            <a:schemeClr val="lt1"/>
                          </a:solidFill>
                        </a:rPr>
                        <a:t>0.009</a:t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solidFill>
                            <a:schemeClr val="lt1"/>
                          </a:solidFill>
                        </a:rPr>
                        <a:t>9,6</a:t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501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solidFill>
                            <a:schemeClr val="lt1"/>
                          </a:solidFill>
                        </a:rPr>
                        <a:t>12 </a:t>
                      </a:r>
                      <a:r>
                        <a:rPr lang="es" sz="1200">
                          <a:solidFill>
                            <a:schemeClr val="lt1"/>
                          </a:solidFill>
                        </a:rPr>
                        <a:t>médicos</a:t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solidFill>
                            <a:schemeClr val="lt1"/>
                          </a:solidFill>
                        </a:rPr>
                        <a:t>37</a:t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solidFill>
                            <a:schemeClr val="lt1"/>
                          </a:solidFill>
                        </a:rPr>
                        <a:t>42</a:t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solidFill>
                            <a:schemeClr val="lt1"/>
                          </a:solidFill>
                        </a:rPr>
                        <a:t>0.4</a:t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solidFill>
                            <a:schemeClr val="lt1"/>
                          </a:solidFill>
                        </a:rPr>
                        <a:t>1.55</a:t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501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solidFill>
                            <a:schemeClr val="lt1"/>
                          </a:solidFill>
                        </a:rPr>
                        <a:t>13 </a:t>
                      </a:r>
                      <a:r>
                        <a:rPr lang="es" sz="1200">
                          <a:solidFill>
                            <a:schemeClr val="lt1"/>
                          </a:solidFill>
                        </a:rPr>
                        <a:t>médicos</a:t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solidFill>
                            <a:schemeClr val="lt1"/>
                          </a:solidFill>
                        </a:rPr>
                        <a:t>5</a:t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solidFill>
                            <a:schemeClr val="lt1"/>
                          </a:solidFill>
                        </a:rPr>
                        <a:t>10</a:t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solidFill>
                            <a:schemeClr val="lt1"/>
                          </a:solidFill>
                        </a:rPr>
                        <a:t>6.8</a:t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solidFill>
                            <a:schemeClr val="lt1"/>
                          </a:solidFill>
                        </a:rPr>
                        <a:t>0</a:t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38" name="Google Shape;238;p25"/>
          <p:cNvSpPr txBox="1"/>
          <p:nvPr/>
        </p:nvSpPr>
        <p:spPr>
          <a:xfrm>
            <a:off x="1284588" y="54200"/>
            <a:ext cx="3000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6350" lvl="0" marL="6350" rtl="0" algn="ctr">
              <a:lnSpc>
                <a:spcPct val="101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 u="sng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RESULTADOS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6"/>
          <p:cNvSpPr txBox="1"/>
          <p:nvPr>
            <p:ph type="title"/>
          </p:nvPr>
        </p:nvSpPr>
        <p:spPr>
          <a:xfrm>
            <a:off x="887838" y="518000"/>
            <a:ext cx="3793500" cy="47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-6350" lvl="0" marL="6350" rtl="0" algn="ctr">
              <a:lnSpc>
                <a:spcPct val="101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u="sng">
                <a:latin typeface="Lato"/>
                <a:ea typeface="Lato"/>
                <a:cs typeface="Lato"/>
                <a:sym typeface="Lato"/>
              </a:rPr>
              <a:t>Fin de Semana</a:t>
            </a:r>
            <a:endParaRPr b="1" sz="2400" u="sng">
              <a:latin typeface="Lato"/>
              <a:ea typeface="Lato"/>
              <a:cs typeface="Lato"/>
              <a:sym typeface="Lato"/>
            </a:endParaRPr>
          </a:p>
          <a:p>
            <a:pPr indent="-6350" lvl="0" marL="6350" rtl="0" algn="ctr">
              <a:lnSpc>
                <a:spcPct val="101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26"/>
          <p:cNvSpPr txBox="1"/>
          <p:nvPr/>
        </p:nvSpPr>
        <p:spPr>
          <a:xfrm>
            <a:off x="1284588" y="54200"/>
            <a:ext cx="3000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6350" lvl="0" marL="6350" rtl="0" algn="ctr">
              <a:lnSpc>
                <a:spcPct val="101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 u="sng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RESULTADOS</a:t>
            </a:r>
            <a:endParaRPr/>
          </a:p>
        </p:txBody>
      </p:sp>
      <p:pic>
        <p:nvPicPr>
          <p:cNvPr id="245" name="Google Shape;245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2178" y="1422863"/>
            <a:ext cx="4302372" cy="2297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74550" y="1422863"/>
            <a:ext cx="4097276" cy="2297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7"/>
          <p:cNvSpPr txBox="1"/>
          <p:nvPr>
            <p:ph type="title"/>
          </p:nvPr>
        </p:nvSpPr>
        <p:spPr>
          <a:xfrm>
            <a:off x="1073900" y="586450"/>
            <a:ext cx="2625600" cy="9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-6350" lvl="0" marL="6350" rtl="0" algn="ctr">
              <a:lnSpc>
                <a:spcPct val="101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650" u="sng">
                <a:latin typeface="Lato"/>
                <a:ea typeface="Lato"/>
                <a:cs typeface="Lato"/>
                <a:sym typeface="Lato"/>
              </a:rPr>
              <a:t>CONCLUSIÓN</a:t>
            </a:r>
            <a:endParaRPr b="1" sz="2650" u="sng">
              <a:latin typeface="Lato"/>
              <a:ea typeface="Lato"/>
              <a:cs typeface="Lato"/>
              <a:sym typeface="Lato"/>
            </a:endParaRPr>
          </a:p>
          <a:p>
            <a:pPr indent="-6350" lvl="0" marL="6350" rtl="0" algn="ctr">
              <a:lnSpc>
                <a:spcPct val="101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latin typeface="Arial"/>
              <a:ea typeface="Arial"/>
              <a:cs typeface="Arial"/>
              <a:sym typeface="Arial"/>
            </a:endParaRPr>
          </a:p>
          <a:p>
            <a:pPr indent="-6350" lvl="0" marL="6350" rtl="0" algn="ctr">
              <a:lnSpc>
                <a:spcPct val="101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latin typeface="Arial"/>
              <a:ea typeface="Arial"/>
              <a:cs typeface="Arial"/>
              <a:sym typeface="Arial"/>
            </a:endParaRPr>
          </a:p>
          <a:p>
            <a:pPr indent="-6350" lvl="0" marL="6350" rtl="0" algn="ctr">
              <a:lnSpc>
                <a:spcPct val="101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27"/>
          <p:cNvSpPr/>
          <p:nvPr/>
        </p:nvSpPr>
        <p:spPr>
          <a:xfrm>
            <a:off x="1168775" y="1514350"/>
            <a:ext cx="2060400" cy="1061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Lato"/>
                <a:ea typeface="Lato"/>
                <a:cs typeface="Lato"/>
                <a:sym typeface="Lato"/>
              </a:rPr>
              <a:t>Lunes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Lato"/>
                <a:ea typeface="Lato"/>
                <a:cs typeface="Lato"/>
                <a:sym typeface="Lato"/>
              </a:rPr>
              <a:t>27 </a:t>
            </a:r>
            <a:r>
              <a:rPr lang="es">
                <a:latin typeface="Lato"/>
                <a:ea typeface="Lato"/>
                <a:cs typeface="Lato"/>
                <a:sym typeface="Lato"/>
              </a:rPr>
              <a:t>médicos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53" name="Google Shape;253;p27"/>
          <p:cNvSpPr/>
          <p:nvPr/>
        </p:nvSpPr>
        <p:spPr>
          <a:xfrm>
            <a:off x="6360025" y="1514350"/>
            <a:ext cx="2060400" cy="1061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Lato"/>
                <a:ea typeface="Lato"/>
                <a:cs typeface="Lato"/>
                <a:sym typeface="Lato"/>
              </a:rPr>
              <a:t>Fin de Semana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Lato"/>
                <a:ea typeface="Lato"/>
                <a:cs typeface="Lato"/>
                <a:sym typeface="Lato"/>
              </a:rPr>
              <a:t>13 </a:t>
            </a:r>
            <a:r>
              <a:rPr lang="es">
                <a:latin typeface="Lato"/>
                <a:ea typeface="Lato"/>
                <a:cs typeface="Lato"/>
                <a:sym typeface="Lato"/>
              </a:rPr>
              <a:t>médicos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54" name="Google Shape;254;p27"/>
          <p:cNvSpPr/>
          <p:nvPr/>
        </p:nvSpPr>
        <p:spPr>
          <a:xfrm>
            <a:off x="3771300" y="1514350"/>
            <a:ext cx="2046600" cy="1061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Lato"/>
                <a:ea typeface="Lato"/>
                <a:cs typeface="Lato"/>
                <a:sym typeface="Lato"/>
              </a:rPr>
              <a:t>Semana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Lato"/>
                <a:ea typeface="Lato"/>
                <a:cs typeface="Lato"/>
                <a:sym typeface="Lato"/>
              </a:rPr>
              <a:t>23 </a:t>
            </a:r>
            <a:r>
              <a:rPr lang="es">
                <a:latin typeface="Lato"/>
                <a:ea typeface="Lato"/>
                <a:cs typeface="Lato"/>
                <a:sym typeface="Lato"/>
              </a:rPr>
              <a:t>médicos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55" name="Google Shape;255;p27"/>
          <p:cNvSpPr/>
          <p:nvPr/>
        </p:nvSpPr>
        <p:spPr>
          <a:xfrm>
            <a:off x="1773275" y="2782300"/>
            <a:ext cx="851400" cy="851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latin typeface="Lato"/>
                <a:ea typeface="Lato"/>
                <a:cs typeface="Lato"/>
                <a:sym typeface="Lato"/>
              </a:rPr>
              <a:t>PEC</a:t>
            </a:r>
            <a:endParaRPr sz="12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Lato"/>
                <a:ea typeface="Lato"/>
                <a:cs typeface="Lato"/>
                <a:sym typeface="Lato"/>
              </a:rPr>
              <a:t>36m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56" name="Google Shape;256;p27"/>
          <p:cNvSpPr/>
          <p:nvPr/>
        </p:nvSpPr>
        <p:spPr>
          <a:xfrm>
            <a:off x="1773275" y="3858925"/>
            <a:ext cx="851400" cy="851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latin typeface="Lato"/>
                <a:ea typeface="Lato"/>
                <a:cs typeface="Lato"/>
                <a:sym typeface="Lato"/>
              </a:rPr>
              <a:t>PPTO</a:t>
            </a:r>
            <a:endParaRPr sz="12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Lato"/>
                <a:ea typeface="Lato"/>
                <a:cs typeface="Lato"/>
                <a:sym typeface="Lato"/>
              </a:rPr>
              <a:t>~0%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57" name="Google Shape;257;p27"/>
          <p:cNvSpPr/>
          <p:nvPr/>
        </p:nvSpPr>
        <p:spPr>
          <a:xfrm>
            <a:off x="3699500" y="2782300"/>
            <a:ext cx="851400" cy="851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latin typeface="Lato"/>
                <a:ea typeface="Lato"/>
                <a:cs typeface="Lato"/>
                <a:sym typeface="Lato"/>
              </a:rPr>
              <a:t>PEC</a:t>
            </a:r>
            <a:endParaRPr sz="12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Lato"/>
                <a:ea typeface="Lato"/>
                <a:cs typeface="Lato"/>
                <a:sym typeface="Lato"/>
              </a:rPr>
              <a:t>42m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58" name="Google Shape;258;p27"/>
          <p:cNvSpPr/>
          <p:nvPr/>
        </p:nvSpPr>
        <p:spPr>
          <a:xfrm>
            <a:off x="6318563" y="2804950"/>
            <a:ext cx="851400" cy="851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latin typeface="Lato"/>
                <a:ea typeface="Lato"/>
                <a:cs typeface="Lato"/>
                <a:sym typeface="Lato"/>
              </a:rPr>
              <a:t>PEC</a:t>
            </a:r>
            <a:endParaRPr sz="12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Lato"/>
                <a:ea typeface="Lato"/>
                <a:cs typeface="Lato"/>
                <a:sym typeface="Lato"/>
              </a:rPr>
              <a:t>37</a:t>
            </a:r>
            <a:r>
              <a:rPr lang="es">
                <a:latin typeface="Lato"/>
                <a:ea typeface="Lato"/>
                <a:cs typeface="Lato"/>
                <a:sym typeface="Lato"/>
              </a:rPr>
              <a:t>m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59" name="Google Shape;259;p27"/>
          <p:cNvSpPr/>
          <p:nvPr/>
        </p:nvSpPr>
        <p:spPr>
          <a:xfrm>
            <a:off x="6318538" y="3858925"/>
            <a:ext cx="851400" cy="851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latin typeface="Lato"/>
                <a:ea typeface="Lato"/>
                <a:cs typeface="Lato"/>
                <a:sym typeface="Lato"/>
              </a:rPr>
              <a:t>PPTO</a:t>
            </a:r>
            <a:endParaRPr sz="12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Lato"/>
                <a:ea typeface="Lato"/>
                <a:cs typeface="Lato"/>
                <a:sym typeface="Lato"/>
              </a:rPr>
              <a:t>0</a:t>
            </a:r>
            <a:r>
              <a:rPr lang="es">
                <a:latin typeface="Lato"/>
                <a:ea typeface="Lato"/>
                <a:cs typeface="Lato"/>
                <a:sym typeface="Lato"/>
              </a:rPr>
              <a:t>.4</a:t>
            </a:r>
            <a:r>
              <a:rPr lang="es">
                <a:latin typeface="Lato"/>
                <a:ea typeface="Lato"/>
                <a:cs typeface="Lato"/>
                <a:sym typeface="Lato"/>
              </a:rPr>
              <a:t>%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60" name="Google Shape;260;p27"/>
          <p:cNvSpPr/>
          <p:nvPr/>
        </p:nvSpPr>
        <p:spPr>
          <a:xfrm>
            <a:off x="5068113" y="2782288"/>
            <a:ext cx="851400" cy="851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latin typeface="Lato"/>
                <a:ea typeface="Lato"/>
                <a:cs typeface="Lato"/>
                <a:sym typeface="Lato"/>
              </a:rPr>
              <a:t>PEC</a:t>
            </a:r>
            <a:endParaRPr sz="12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Lato"/>
                <a:ea typeface="Lato"/>
                <a:cs typeface="Lato"/>
                <a:sym typeface="Lato"/>
              </a:rPr>
              <a:t>7m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61" name="Google Shape;261;p27"/>
          <p:cNvSpPr/>
          <p:nvPr/>
        </p:nvSpPr>
        <p:spPr>
          <a:xfrm>
            <a:off x="5068113" y="3858925"/>
            <a:ext cx="851400" cy="851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latin typeface="Lato"/>
                <a:ea typeface="Lato"/>
                <a:cs typeface="Lato"/>
                <a:sym typeface="Lato"/>
              </a:rPr>
              <a:t>PPTO</a:t>
            </a:r>
            <a:endParaRPr sz="12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Lato"/>
                <a:ea typeface="Lato"/>
                <a:cs typeface="Lato"/>
                <a:sym typeface="Lato"/>
              </a:rPr>
              <a:t>2.8%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62" name="Google Shape;262;p27"/>
          <p:cNvCxnSpPr>
            <a:stCxn id="257" idx="6"/>
            <a:endCxn id="260" idx="2"/>
          </p:cNvCxnSpPr>
          <p:nvPr/>
        </p:nvCxnSpPr>
        <p:spPr>
          <a:xfrm>
            <a:off x="4550900" y="3208000"/>
            <a:ext cx="517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3" name="Google Shape;263;p27"/>
          <p:cNvCxnSpPr/>
          <p:nvPr/>
        </p:nvCxnSpPr>
        <p:spPr>
          <a:xfrm>
            <a:off x="4550900" y="4284625"/>
            <a:ext cx="517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64" name="Google Shape;264;p27"/>
          <p:cNvSpPr/>
          <p:nvPr/>
        </p:nvSpPr>
        <p:spPr>
          <a:xfrm>
            <a:off x="3699500" y="3858925"/>
            <a:ext cx="851400" cy="851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latin typeface="Lato"/>
                <a:ea typeface="Lato"/>
                <a:cs typeface="Lato"/>
                <a:sym typeface="Lato"/>
              </a:rPr>
              <a:t>PPTO</a:t>
            </a:r>
            <a:endParaRPr sz="12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Lato"/>
                <a:ea typeface="Lato"/>
                <a:cs typeface="Lato"/>
                <a:sym typeface="Lato"/>
              </a:rPr>
              <a:t>~0%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65" name="Google Shape;265;p27"/>
          <p:cNvSpPr/>
          <p:nvPr/>
        </p:nvSpPr>
        <p:spPr>
          <a:xfrm>
            <a:off x="7569013" y="2804950"/>
            <a:ext cx="851400" cy="851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latin typeface="Lato"/>
                <a:ea typeface="Lato"/>
                <a:cs typeface="Lato"/>
                <a:sym typeface="Lato"/>
              </a:rPr>
              <a:t>PEC</a:t>
            </a:r>
            <a:endParaRPr sz="12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Lato"/>
                <a:ea typeface="Lato"/>
                <a:cs typeface="Lato"/>
                <a:sym typeface="Lato"/>
              </a:rPr>
              <a:t>5m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66" name="Google Shape;266;p27"/>
          <p:cNvSpPr/>
          <p:nvPr/>
        </p:nvSpPr>
        <p:spPr>
          <a:xfrm>
            <a:off x="7568988" y="3858925"/>
            <a:ext cx="851400" cy="851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latin typeface="Lato"/>
                <a:ea typeface="Lato"/>
                <a:cs typeface="Lato"/>
                <a:sym typeface="Lato"/>
              </a:rPr>
              <a:t>PPTO</a:t>
            </a:r>
            <a:endParaRPr sz="12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Lato"/>
                <a:ea typeface="Lato"/>
                <a:cs typeface="Lato"/>
                <a:sym typeface="Lato"/>
              </a:rPr>
              <a:t>6.8%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67" name="Google Shape;267;p27"/>
          <p:cNvCxnSpPr>
            <a:stCxn id="258" idx="6"/>
            <a:endCxn id="265" idx="2"/>
          </p:cNvCxnSpPr>
          <p:nvPr/>
        </p:nvCxnSpPr>
        <p:spPr>
          <a:xfrm>
            <a:off x="7169963" y="3230650"/>
            <a:ext cx="399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8" name="Google Shape;268;p27"/>
          <p:cNvCxnSpPr>
            <a:stCxn id="259" idx="6"/>
            <a:endCxn id="266" idx="2"/>
          </p:cNvCxnSpPr>
          <p:nvPr/>
        </p:nvCxnSpPr>
        <p:spPr>
          <a:xfrm>
            <a:off x="7169938" y="4284625"/>
            <a:ext cx="399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69" name="Google Shape;269;p27"/>
          <p:cNvSpPr txBox="1"/>
          <p:nvPr/>
        </p:nvSpPr>
        <p:spPr>
          <a:xfrm>
            <a:off x="1096700" y="4755625"/>
            <a:ext cx="74256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lt2"/>
                </a:solidFill>
                <a:latin typeface="Lato"/>
                <a:ea typeface="Lato"/>
                <a:cs typeface="Lato"/>
                <a:sym typeface="Lato"/>
              </a:rPr>
              <a:t>PEC: Promedio de Espera en Cola	PPTO: Promedio de Porcentaje de Tiempo Ocioso</a:t>
            </a:r>
            <a:endParaRPr sz="1300">
              <a:solidFill>
                <a:schemeClr val="lt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